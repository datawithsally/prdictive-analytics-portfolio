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34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8597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2636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286000" y="4297680"/>
            <a:ext cx="4572000" cy="4572000"/>
          </a:xfrm>
          <a:prstGeom prst="ellipse">
            <a:avLst/>
          </a:prstGeom>
          <a:solidFill>
            <a:srgbClr val="2636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 308 — PREDICTIVE ANALYTICS  |  GROUP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 for Global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 Investment Strategy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Accra, Mumbai, and London for ED Happiness Estates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prepared for Miss Osei Abrefi Akoto, CEO, ED Happiness Estates — advising on the deployment of USD 500 million in secured real estate investment capital.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8064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Sally Aidoo · Nyamekye Kessewaa Frempong · Charles Afful · Mohammed Nii Adama Tagoe · Godsway Wedzi · Cathia Eugelene Koumba Kindou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57276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&amp; Objectives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60720" y="1572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Estates' investment mandate and our analytical goals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350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32257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Selection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232257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Accra, Mumbai, and London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0998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099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07238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60720" y="3072384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cleaning, feature engineering, modelling approach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496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849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8221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City-by-City Results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60720" y="382219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and time-series findings for each market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5994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599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572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Discussion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60720" y="45720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 predictability and risk gradient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3218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760720" y="532180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data-driven recommendations &amp; positioning strategy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 Happiness Estates Brief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Osei Abrefi Akoto</a:t>
            </a:r>
            <a:r>
              <a:rPr lang="en-US" sz="14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CEO of ED Happiness Estates, has secured </a:t>
            </a: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500 million</a:t>
            </a:r>
            <a:r>
              <a:rPr lang="en-US" sz="14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venture capital funding from 35 investors to develop ultra-modern brutalist residential and commercial buildings for rental and sale.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68680" y="342900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3310128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strategic city (or cities) for a large, long-term real estate investment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20624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4087368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real-world, multi-source data to explain what drives housing prices and sales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98348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4864608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defensible, data-driven investment recommendations — not intuition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5544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26680" y="162763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26680" y="217627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investment capital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35240" y="27432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26680" y="281635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726680" y="33649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capital &amp; global investors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35240" y="393192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26680" y="400507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Cities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726680" y="45537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· Mumbai · London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REPORT DELIVERS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justify three global cities spanning developed, emerging, and developing economies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26060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clean, and engineer real estate &amp; socio-economic data from multiple reputable sources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35204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evaluate at least two regression and two time-series models per requirement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4348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44348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model results to identify the key determinants of price in each market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3492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53492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analysis into five well-justified, data-driven investment recommendations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THE DEVELOPMENT SPECTRUM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Cities, Three Economic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868680"/>
          </a:xfrm>
          <a:prstGeom prst="roundRect">
            <a:avLst>
              <a:gd name="adj" fmla="val 10526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611880" cy="41148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Accra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— Developing Economy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Estates' home market; rapid urbanisation and a growing middle class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611880" cy="868680"/>
          </a:xfrm>
          <a:prstGeom prst="roundRect">
            <a:avLst>
              <a:gd name="adj" fmla="val 10526"/>
            </a:avLst>
          </a:prstGeom>
          <a:solidFill>
            <a:srgbClr val="5A6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89120" y="2148840"/>
            <a:ext cx="3611880" cy="411480"/>
          </a:xfrm>
          <a:prstGeom prst="rect">
            <a:avLst/>
          </a:prstGeom>
          <a:solidFill>
            <a:srgbClr val="5A6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Mumbai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— Emerging Economy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17720" y="278892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financial capital; strong GDP growth and heavy investor interest in real estate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1691640"/>
            <a:ext cx="361188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0" y="2148840"/>
            <a:ext cx="361188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5820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London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5820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— Advanced Economy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58200" y="278892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liquid, transparent global financial centre with strong legal protections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SELECTION &amp; JUSTIFICATION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Snapshot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84048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high-growth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large, high-growth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Large, mature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potential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interest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Rising, niche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Consistently 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stability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Moderate–High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predictability (R²)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flagship / growth bet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&amp; diversification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anchor / rental yield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REPUTABLE 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36576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Variables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— Accra residential property listings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4,320 → 3,917 (Greater Accra)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Price, category, bedrooms/bathrooms, floor area, condition, furnishing, lat/long, locality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— Mumbai property sales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 → ~45,200 (post-cleaning)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Price, locality, market tier, carpet area, BHK, floor, building age, builder, metro proximity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Government / Kaggle — Housing in London (monthly, by borough)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13,549 → 7,328 (1995–2020)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price, borough, houses sold, recorded crimes, 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Supplemented with contextual socio-economic reasoning from the World Bank Database (GDP growth, urbanisation) and Numbeo (cost-of-living, rent indices), as recommended in the assignment brief.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ANALYTICAL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331720" y="1920240"/>
            <a:ext cx="228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0" y="192024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5A6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192024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43400" y="1920240"/>
            <a:ext cx="228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92024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55080" y="1920240"/>
            <a:ext cx="228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0" y="192024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5A6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192024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66760" y="1920240"/>
            <a:ext cx="228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595360" y="192024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95360" y="192024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378440" y="1920240"/>
            <a:ext cx="228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607040" y="192024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5A6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607040" y="192024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analysis conducted in Python — pandas, NumPy, scikit-learn, statsmodels, and pmdarima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4251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2960" y="46177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 Linear Regression (baseline) plus a regularised counterpart — Lasso (Accra) or Ridge (Mumbai, London) — to test robustness to multicollinearity among one-hot-encoded location dummies.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11480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92240" y="4251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models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92240" y="46177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Moving Average (all 3 cities) as a naive benchmark, plus auto-ARIMA (Accra, Mumbai, via stepwise AIC minimisation) and Holt's trend-adjusted Exponential Smoothing (London).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standardised (z-scored); 80/20 train–test split (random_state = 42) for out-of-sample evaluation via R², MAE, RMSE, and MAPE.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 FOR MODELLING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Cleaning, Outliers &amp; 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Integration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Checked for missing values and duplicate records in each dataset</a:t>
            </a:r>
            <a:endParaRPr lang="en-US" sz="1180" dirty="0"/>
          </a:p>
        </p:txBody>
      </p:sp>
      <p:sp>
        <p:nvSpPr>
          <p:cNvPr id="6" name="Text 4"/>
          <p:cNvSpPr/>
          <p:nvPr/>
        </p:nvSpPr>
        <p:spPr>
          <a:xfrm>
            <a:off x="548640" y="2578608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Filtered to correct metropolitan boundaries (e.g., Greater Accra; valid London boroughs)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548640" y="3145536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Parsed dates into year/month features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548640" y="37124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Removed logically inconsistent records — e.g. 4,793 Mumbai rows (9.6%) with impossible floor/build-year values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548640" y="427939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Dropped target-leakage columns (e.g., Mumbai price-per-sqft, INR price)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&amp; Feature Engineering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IQR method used to detect outliers; Accra values capped (not deleted) to preserve sample size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6400800" y="2670048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Accra: price/m², bedroom-to-bathroom ratio, distance from CBD (km), ordinal + one-hot encoding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6400800" y="3328416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Mumbai: property age, numeric BHK count, target encoding of locality/builder/metro station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400800" y="3986784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London: year/month from date, one-hot borough encoding, median imputation for houses sold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98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Accra, Ghana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Economy — ED Happiness Estates' Home Market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— DATA UNDERSTANDING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Distribution &amp; Central Business District Effect</a:t>
            </a:r>
            <a:endParaRPr lang="en-US" sz="3000" dirty="0"/>
          </a:p>
        </p:txBody>
      </p:sp>
      <p:pic>
        <p:nvPicPr>
          <p:cNvPr id="4" name="Image 0" descr="image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486400" cy="2551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245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Distribution of property prices in Greater Accra (post outlier-capping).</a:t>
            </a:r>
            <a:endParaRPr lang="en-US" sz="1050" dirty="0"/>
          </a:p>
        </p:txBody>
      </p:sp>
      <p:pic>
        <p:nvPicPr>
          <p:cNvPr id="6" name="Image 1" descr="image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00200"/>
            <a:ext cx="5330952" cy="25511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4224528"/>
            <a:ext cx="5330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 Property price vs. distance from Accra CBD — a visible negative relationship.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48640" y="48920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49651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3,917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640080" y="55138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after filtering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51960" y="48920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343400" y="49651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GHS 13,039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343400" y="55138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listed price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489204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046720" y="496519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GHS 8,000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8046720" y="551383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listed price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— REGRESSION MODELLING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Explaining Price Variation</a:t>
            </a:r>
            <a:endParaRPr lang="en-US" sz="3000" dirty="0"/>
          </a:p>
        </p:txBody>
      </p:sp>
      <p:pic>
        <p:nvPicPr>
          <p:cNvPr id="4" name="Image 0" descr="images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4599432" cy="35570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212080"/>
            <a:ext cx="4599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 Correlation heatmap of key numeric features against capped property price.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691640"/>
          <a:ext cx="6172200" cy="13716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(GHS)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Regression (α = 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0" y="3337560"/>
            <a:ext cx="6172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0.62 </a:t>
            </a: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observable property characteristics explain a meaningful majority — but not the overwhelming bulk — of price variation in Accra. This is consistent with a developing real-estate market where informal negotiation, title/legal status, and off-market factors are not captured in the data.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486400" y="5349240"/>
            <a:ext cx="6172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predictors: floor area, bedrooms/bathrooms, condition, distance from CBD, locality.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— TIME-SERIES FORECASTING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Price Movement</a:t>
            </a:r>
            <a:endParaRPr lang="en-US" sz="3000" dirty="0"/>
          </a:p>
        </p:txBody>
      </p:sp>
      <p:pic>
        <p:nvPicPr>
          <p:cNvPr id="4" name="Image 0" descr="image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806440" cy="30815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736592"/>
            <a:ext cx="5806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 Average monthly property price, Greater Accra.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691640"/>
          <a:ext cx="4937760" cy="12801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3-Month SMA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GHS 1,564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GHS 1,702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ARIMA(0,0,0)(0,0,0)[12]+c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 = 610.1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720840" y="32004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Augmented Dickey-Fuller test </a:t>
            </a: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rejected non-stationarity, but only 36 months of data were available, and the selected ARIMA specification found no exploitable trend or seasonal structure — the series behaves close to random noise around its mean.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720840" y="512064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903720" y="51206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near-term price forecasts for Accra should be treated as indicative only.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Mumbai, India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Economy — Scale &amp; Growth at Volume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— DATA UNDERSTANDING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Distribution &amp; Market Trend</a:t>
            </a:r>
            <a:endParaRPr lang="en-US" sz="3000" dirty="0"/>
          </a:p>
        </p:txBody>
      </p:sp>
      <p:pic>
        <p:nvPicPr>
          <p:cNvPr id="4" name="Image 0" descr="image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53212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950208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 Distribution of Mumbai property sale prices (USD).</a:t>
            </a:r>
            <a:endParaRPr lang="en-US" sz="1050" dirty="0"/>
          </a:p>
        </p:txBody>
      </p:sp>
      <p:pic>
        <p:nvPicPr>
          <p:cNvPr id="6" name="Image 1" descr="images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00200"/>
            <a:ext cx="5330952" cy="31821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4846320"/>
            <a:ext cx="5330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 Sale price vs. listing date — dispersion and upward drift over time.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48640" y="42976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43708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640080" y="49194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listings, 32 fields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37560" y="42976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429000" y="43708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~45,200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429000" y="49194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after cleaning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544068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B04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77240" y="5486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4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9.6% removed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77240" y="5852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Logically inconsistent records (floor &gt; total floors, build year post-dates listing)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— REGRESSION MODELLING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Explaining Price Variation at Scale</a:t>
            </a:r>
            <a:endParaRPr lang="en-US" sz="3000" dirty="0"/>
          </a:p>
        </p:txBody>
      </p:sp>
      <p:pic>
        <p:nvPicPr>
          <p:cNvPr id="4" name="Image 0" descr="images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4279392" cy="3300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56048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 Actual vs. predicted Mumbai sale prices (Linear Regression, test set).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691640"/>
          <a:ext cx="6537960" cy="13716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(USD)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81,769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 (α = 1.0)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0" y="3337560"/>
            <a:ext cx="6537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0.826 </a:t>
            </a: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strong fit driven by the very large sample size (45,000+ listings). Ridge regression confirms robustness, producing a virtually identical R², indicating multicollinearity among location dummies is not distorting the baseline model.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20640" y="5349240"/>
            <a:ext cx="6537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predictors: carpet/built-up area, market tier, locality/builder premium, metro proximity, property age.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— TIME-SERIES FORECASTING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Persistent Upward Trend</a:t>
            </a:r>
            <a:endParaRPr lang="en-US" sz="3000" dirty="0"/>
          </a:p>
        </p:txBody>
      </p:sp>
      <p:pic>
        <p:nvPicPr>
          <p:cNvPr id="4" name="Image 0" descr="image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172200" cy="32735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3776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8. Average monthly Mumbai listing price.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691640"/>
          <a:ext cx="4663440" cy="15087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Augmented Dickey-Fuller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Non-stationary (trend)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difference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995160" y="324612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Non-stationary in levels, stationary after differencing </a:t>
            </a: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Mumbai exhibits a genuine, statistically-confirmed upward price trend rather than noise, but historical growth rates may not continue linearly given macro shocks (interest rates, RERA regulatory shifts).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London, United Kingdom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Economy — Stability &amp; Predictability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— DATA UNDERSTANDING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Quarter-Century Price Trend</a:t>
            </a:r>
            <a:endParaRPr lang="en-US" sz="3000" dirty="0"/>
          </a:p>
        </p:txBody>
      </p:sp>
      <p:pic>
        <p:nvPicPr>
          <p:cNvPr id="4" name="Image 0" descr="images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126480" cy="32735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377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9. London average property price trend, 1995–2020 (city-wide series).</a:t>
            </a:r>
            <a:endParaRPr lang="en-US" sz="1050" dirty="0"/>
          </a:p>
        </p:txBody>
      </p:sp>
      <p:pic>
        <p:nvPicPr>
          <p:cNvPr id="6" name="Image 1" descr="images/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600200"/>
            <a:ext cx="4800600" cy="3191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0" y="4846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10. Top 10 most expensive London boroughs (latest year available).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appreciation since 1995, with a brief plateau around the 2008–2009 global financial crisis — confirming London's status as a long-run capital-appreciation market.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— REGRESSION MODELLING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Fit of the Three Cities</a:t>
            </a:r>
            <a:endParaRPr lang="en-US" sz="3000" dirty="0"/>
          </a:p>
        </p:txBody>
      </p:sp>
      <p:pic>
        <p:nvPicPr>
          <p:cNvPr id="4" name="Image 0" descr="images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3822192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74920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11. Correlation heatmap: price, houses sold, crimes, and year.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91640"/>
          <a:ext cx="6995160" cy="13716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(£)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(£)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64,508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46,394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 (α = 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64,480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46,277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663440" y="3337560"/>
            <a:ext cx="6995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0.885 </a:t>
            </a: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strongest regression fit of the three cities. Borough identity alone, combined with houses sold and crime rate, explains the large majority of price variation — consistent with London's maturity, transparency, and data richness.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3440" y="5074920"/>
            <a:ext cx="6995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predictors: borough identity, houses sold, recorded crime rate.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— TIME-SERIES FORECASTING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Trend-Aware Modelling Wins Decisively</a:t>
            </a:r>
            <a:endParaRPr lang="en-US" sz="3000" dirty="0"/>
          </a:p>
        </p:txBody>
      </p:sp>
      <p:pic>
        <p:nvPicPr>
          <p:cNvPr id="4" name="Image 0" descr="images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943600" cy="2953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17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12. Holt's Exponential Smoothing forecast vs. actual (test period).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691640"/>
          <a:ext cx="4983480" cy="13716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(£)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(£)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3-Month SMA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62,606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66,289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Holt's Exp. Smoothing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23,841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29,377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675120" y="3246120"/>
            <a:ext cx="4983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Holt's method cuts MAPE from 13.27% to 5.08% </a:t>
            </a: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confirming London's price series is dominated by a persistent, well-behaved upward trend rather than noise. A flat SMA structurally lags such a trend; Holt's, which explicitly models trend, tracks it closely.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 SYNTHESIS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Discussion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5661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regression 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 (Linear/Lasso)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 (Linear/Ridge)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 (Ridge)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time-series MAPE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10.95% (SMA)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(ARIMA, differenced)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5.08% (Holt's)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series behaviour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Stationary, noise-like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Trending, non-stationary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persistent trend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 (post-cleaning)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~45,200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7,328 (borough-months)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character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growth, higher uncertainty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&amp; appreciation, moderate uncertainty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 &amp; liquidity, lower uncertainty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gradient from less to more predictable — and from higher-growth/higher-risk to lower-growth/lower-risk — maps closely onto each city's stage of economic development. This is economically intuitive, not a modelling artefact.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MODELS DON'T CAPTURE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4572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38% of price variation unexplained (R² = 0.62)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Only 36 months of time-series data; no exploitable trend found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Currency (GHS) and land-title complexity add execution risk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6118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5A6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3611880" cy="457200"/>
          </a:xfrm>
          <a:prstGeom prst="rect">
            <a:avLst/>
          </a:prstGeom>
          <a:solidFill>
            <a:srgbClr val="5A6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16002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240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Non-stationary trend — historical growth may not continue linearly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17720" y="31089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 market segmentation masks micro-market dynamics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17720" y="3977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9.6% data removed; target encoding risks overfitting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1600200"/>
            <a:ext cx="36118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1600200"/>
            <a:ext cx="361188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0" y="16002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58200" y="2240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 entry cost, lower % growth vs. Accra/Mumbai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58200" y="31089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Dataset ends 2020 — post-pandemic &amp; rate shifts not reflected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58200" y="3977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Borough averages obscure street-level, micro-location risk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0292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datasets differ in currency/period (not apples-to-apples on price levels); no macro-economic indicators included; models assume historical price relationships hold for a novel brutalist-architecture product category.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DATA-DRIVEN 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(1 of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10287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three-city, risk-tiered capital allocation strategy, anchored by London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148840"/>
            <a:ext cx="10287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London's superior predictability (R² = 0.885; Holt's MAPE = 5.08%) justifies the largest single-city allocation as a stable, long-duration anchor.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3154680"/>
            <a:ext cx="10287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growth-oriented tranche to Mumbai, prioritising mid-to-premium tier near metro infrastructure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657600"/>
            <a:ext cx="10287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0.826 with a confirmed statistical upward trend supports scale-oriented deployment in Mumbai's most liquid, well-connected segments.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663440"/>
            <a:ext cx="10287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Accra with a smaller, phased tranche in high-value, CBD-proximate localities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5166360"/>
            <a:ext cx="10287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CBD shows a clear negative relationship with price; a phased approach manages the wider uncertainty (R² = 0.62).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DATA-DRIVEN 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(2 of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10287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strategy to each city's demonstrated demand driver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240280"/>
            <a:ext cx="10287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Rental-led in London (predictable appreciation, strong tenant demand); mixed sales/rental in Mumbai (tiered demand); sales-led in Accra (capital efficiency in a phased-entry market).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3703320"/>
            <a:ext cx="10287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each city's best-performing forecasting model to time phased capital releases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4251960"/>
            <a:ext cx="10287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Holt's forecasts should directly pace deployment in London given demonstrated accuracy (MAPE 5.08%); Accra and Mumbai releases should be more conservative, reinvesting in data collection to progressively de-risk both markets.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ED HAPPINESS ESTATES SHOULD SHOW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 Summary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194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Product Focus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anchor / cash-flow 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Rental: premium/luxury residential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allocation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&amp; scale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sales + rental: mid-to-premium, metro-proximate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Second-largest allocation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flagship / phased growth bet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Sales-led: high-value CBD-proximate localities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Smallest, phased allocation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434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441655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Largest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4965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— rental yield anchor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51960" y="43434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43400" y="441655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 Largest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343400" y="4965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— growth &amp; scale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55280" y="43434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46720" y="441655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046720" y="496519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— flagship growth bet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5486400" cy="5486400"/>
          </a:xfrm>
          <a:prstGeom prst="ellipse">
            <a:avLst/>
          </a:prstGeom>
          <a:solidFill>
            <a:srgbClr val="2636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single winner — a complementary, risk-tiered portfolio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consistent predictive-analytics pipeline, we built and evaluated </a:t>
            </a: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regression models and five time-series models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Accra, Mumbai, and London — well exceeding the assignment's minimum of four.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263675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3840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London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3434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highly forecastable anchor for rental income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36576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263675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3840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Mumbai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43434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growth engine with a confirmed upward trend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36576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263675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75320" y="38404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Accra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5320" y="43434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flagship market, pursued through phased, disciplined entry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Group Members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(APA)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Hyndman, R. J., &amp; Athanasopoulos, G. (2021). Forecasting: Principles and practice (3rd ed.). OTexts.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578608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(n.d.). Accra Ghana residential property listings dataset; Mumbai property sales dataset; Housing in London monthly borough dataset.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45536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Numbeo (2026). Cost of living and property price index by city.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712464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 et al. (2011). Scikit-learn: Machine learning in Python. JMLR, 12, 2825–2830.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27939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Seabold, S., &amp; Perktold, J. (2010). Statsmodels: Econometric and statistical modeling with Python.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Government (n.d.). HM Land Registry UK House Price Index. GOV.UK.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5413248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(2026). World development indicators.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23760" y="1554480"/>
            <a:ext cx="4389120" cy="4480560"/>
          </a:xfrm>
          <a:prstGeom prst="roundRect">
            <a:avLst>
              <a:gd name="adj" fmla="val 208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5236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52360" y="229514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0960" y="2240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Sally Aidoo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52360" y="2862072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80960" y="28072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Nyamekye Kessewaa Frempong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52360" y="342900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80960" y="33741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Afful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52360" y="3995928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80960" y="39410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Nii Adama Tagoe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52360" y="4562856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80960" y="45079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Godsway Wedzi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52360" y="512978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80960" y="50749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Cathia Eugelene Koumba Kindou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Happiness Estates — Investment Strategy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2636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286000" y="4297680"/>
            <a:ext cx="4572000" cy="4572000"/>
          </a:xfrm>
          <a:prstGeom prst="ellipse">
            <a:avLst/>
          </a:prstGeom>
          <a:solidFill>
            <a:srgbClr val="2636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29260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 308: Predictive Analytics — University of Ghana Business School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2773</Words>
  <Application>Microsoft Office PowerPoint</Application>
  <PresentationFormat>Widescreen</PresentationFormat>
  <Paragraphs>473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Sarah Aidoo</cp:lastModifiedBy>
  <cp:revision>1</cp:revision>
  <dcterms:created xsi:type="dcterms:W3CDTF">2026-08-09T16:03:26Z</dcterms:created>
  <dcterms:modified xsi:type="dcterms:W3CDTF">2026-08-09T16:25:14Z</dcterms:modified>
</cp:coreProperties>
</file>